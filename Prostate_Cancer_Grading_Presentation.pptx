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8733" y="1191320"/>
            <a:ext cx="13632900" cy="32841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1pPr>
            <a:lvl2pPr lvl="1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98720" y="4534600"/>
            <a:ext cx="13632900" cy="1268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98720" y="3441360"/>
            <a:ext cx="13632900" cy="13470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2pPr>
            <a:lvl3pPr lvl="2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3pPr>
            <a:lvl4pPr lvl="3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4pPr>
            <a:lvl5pPr lvl="4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5pPr>
            <a:lvl6pPr lvl="5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6pPr>
            <a:lvl7pPr lvl="6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7pPr>
            <a:lvl8pPr lvl="7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8pPr>
            <a:lvl9pPr lvl="8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98720" y="1843960"/>
            <a:ext cx="63999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7731840" y="1843960"/>
            <a:ext cx="63999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8720" y="888960"/>
            <a:ext cx="4492800" cy="12090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98720" y="2223360"/>
            <a:ext cx="4492800" cy="5087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784400" y="720240"/>
            <a:ext cx="10188600" cy="65454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315200" y="40"/>
            <a:ext cx="7315200" cy="822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24800" y="1973080"/>
            <a:ext cx="6472200" cy="23718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24800" y="4484920"/>
            <a:ext cx="6472200" cy="1976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7903200" y="1158720"/>
            <a:ext cx="6139200" cy="59121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  <a:defRPr>
                <a:solidFill>
                  <a:schemeClr val="dk1"/>
                </a:solidFill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>
                <a:solidFill>
                  <a:schemeClr val="dk1"/>
                </a:solidFill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>
                <a:solidFill>
                  <a:schemeClr val="dk1"/>
                </a:solidFill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>
                <a:solidFill>
                  <a:schemeClr val="dk1"/>
                </a:solidFill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>
                <a:solidFill>
                  <a:schemeClr val="dk1"/>
                </a:solidFill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>
                <a:solidFill>
                  <a:schemeClr val="dk1"/>
                </a:solidFill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98720" y="6768920"/>
            <a:ext cx="9598200" cy="9681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98720" y="1769800"/>
            <a:ext cx="13632900" cy="31416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98720" y="5043560"/>
            <a:ext cx="13632900" cy="2081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ctr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900"/>
              <a:buChar char="●"/>
              <a:defRPr sz="2900">
                <a:solidFill>
                  <a:schemeClr val="lt2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○"/>
              <a:defRPr sz="2200">
                <a:solidFill>
                  <a:schemeClr val="lt2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■"/>
              <a:defRPr sz="2200">
                <a:solidFill>
                  <a:schemeClr val="lt2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  <a:defRPr sz="2200">
                <a:solidFill>
                  <a:schemeClr val="lt2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○"/>
              <a:defRPr sz="2200">
                <a:solidFill>
                  <a:schemeClr val="lt2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■"/>
              <a:defRPr sz="2200">
                <a:solidFill>
                  <a:schemeClr val="lt2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  <a:defRPr sz="2200">
                <a:solidFill>
                  <a:schemeClr val="lt2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○"/>
              <a:defRPr sz="2200">
                <a:solidFill>
                  <a:schemeClr val="lt2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■"/>
              <a:defRPr sz="2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r">
              <a:buNone/>
              <a:defRPr sz="1600">
                <a:solidFill>
                  <a:schemeClr val="lt2"/>
                </a:solidFill>
              </a:defRPr>
            </a:lvl1pPr>
            <a:lvl2pPr lvl="1" algn="r">
              <a:buNone/>
              <a:defRPr sz="1600">
                <a:solidFill>
                  <a:schemeClr val="lt2"/>
                </a:solidFill>
              </a:defRPr>
            </a:lvl2pPr>
            <a:lvl3pPr lvl="2" algn="r">
              <a:buNone/>
              <a:defRPr sz="1600">
                <a:solidFill>
                  <a:schemeClr val="lt2"/>
                </a:solidFill>
              </a:defRPr>
            </a:lvl3pPr>
            <a:lvl4pPr lvl="3" algn="r">
              <a:buNone/>
              <a:defRPr sz="1600">
                <a:solidFill>
                  <a:schemeClr val="lt2"/>
                </a:solidFill>
              </a:defRPr>
            </a:lvl4pPr>
            <a:lvl5pPr lvl="4" algn="r">
              <a:buNone/>
              <a:defRPr sz="1600">
                <a:solidFill>
                  <a:schemeClr val="lt2"/>
                </a:solidFill>
              </a:defRPr>
            </a:lvl5pPr>
            <a:lvl6pPr lvl="5" algn="r">
              <a:buNone/>
              <a:defRPr sz="1600">
                <a:solidFill>
                  <a:schemeClr val="lt2"/>
                </a:solidFill>
              </a:defRPr>
            </a:lvl6pPr>
            <a:lvl7pPr lvl="6" algn="r">
              <a:buNone/>
              <a:defRPr sz="1600">
                <a:solidFill>
                  <a:schemeClr val="lt2"/>
                </a:solidFill>
              </a:defRPr>
            </a:lvl7pPr>
            <a:lvl8pPr lvl="7" algn="r">
              <a:buNone/>
              <a:defRPr sz="1600">
                <a:solidFill>
                  <a:schemeClr val="lt2"/>
                </a:solidFill>
              </a:defRPr>
            </a:lvl8pPr>
            <a:lvl9pPr lvl="8" algn="r">
              <a:buNone/>
              <a:defRPr sz="16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Reliable Prostate Cancer Grading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914400" y="4114800"/>
            <a:ext cx="1280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Patch-Level Gleason Pattern Classification with Uncertainty Quantification using SICAPv2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Hermes Hui • Owen Reid • Mike Reynolds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685800" y="457200"/>
            <a:ext cx="132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685800" y="1600200"/>
            <a:ext cx="132588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Prostate cancer is the most common cancer among men in Canada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25,000 diagnoses annually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Gleason grading critical for treatment decisions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grading is time-intensive and subjective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Current Challenges</a:t>
            </a:r>
            <a:endParaRPr/>
          </a:p>
          <a:p>
            <a:pPr indent="45720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models lack confidence estimates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of over-reliance without uncertainty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1900" y="235000"/>
            <a:ext cx="5284276" cy="13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685800" y="457200"/>
            <a:ext cx="132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Gleason Grading System</a:t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685800" y="1600200"/>
            <a:ext cx="13258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Pathologists classify prostate tissue into patterns based on cellular architecture: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NC - Non-Cancerous (Normal tissue structures)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G3 - Grade 3 (Well differentiated)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G4 - Grade 4 (Moderately differentiated)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G5 - Grade 5 (Poorly differentiated - Most aggressive)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600" y="4110488"/>
            <a:ext cx="8096250" cy="32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685800" y="457200"/>
            <a:ext cx="132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685800" y="1600200"/>
            <a:ext cx="132588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Two-Part Approach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Classification Model - ResNet18 Architecture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11.2M parameters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Patch-level classification (4 classes: NC, G3, G4, G5)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 on SICAPv2 dataset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Uncertainty Quantification - Monte Carlo Dropout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Bayesian approximation for confidence estimates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Identifies ambiguous cases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selective prediction strategy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3247" y="5178222"/>
            <a:ext cx="5990124" cy="20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685800" y="457200"/>
            <a:ext cx="132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SICAPv2 Dataset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685800" y="1600200"/>
            <a:ext cx="132588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182 Whole Slide Images of prostate histopathology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10,340 total patches (512×512 pixels at 10× magnification)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Expert pathologist annotations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classification categories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Our Data Split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8,215 Training Patches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1,744 Validation Patches</a:t>
            </a:r>
            <a:endParaRPr/>
          </a:p>
        </p:txBody>
      </p:sp>
      <p:pic>
        <p:nvPicPr>
          <p:cNvPr id="85" name="Google Shape;85;p17" title="18B0006623I_Block_Region_2_3_4_xini_10171_yini_14733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5100" y="10752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/>
        </p:nvSpPr>
        <p:spPr>
          <a:xfrm>
            <a:off x="685800" y="457200"/>
            <a:ext cx="132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ResNet18 Architecture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685800" y="1600200"/>
            <a:ext cx="132588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Progressive Feature Learning: Low-level edges → High-level tissue patterns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1: Initial 7×7 conv + pooling → Extract edges and basic shapes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2: 64 filters → Learn basic cell and tissue patterns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3: 128 filters → Gland formations and cellular clustering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4: 256 filters → Larger-scale tissue patterns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5: 512 filters → Most abstract features for classification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Global average pooling → Dense layer → 4-class softmax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Key Feature: Residual connections (skip connections) enable stable training</a:t>
            </a:r>
            <a:endParaRPr/>
          </a:p>
        </p:txBody>
      </p:sp>
      <p:pic>
        <p:nvPicPr>
          <p:cNvPr id="92" name="Google Shape;92;p18" title="ResNet18(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700" y="5112150"/>
            <a:ext cx="12118973" cy="226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685800" y="457200"/>
            <a:ext cx="132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Training Methodology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685800" y="1600200"/>
            <a:ext cx="132588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Data Augmentation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horizontal/vertical flips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90° rotations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Brightness/contrast adjustment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ImageNet normalization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Training Strategy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Adam optimizer (lr=1e-4), Batch size: 32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stopping, Learning rate reduction, Model checkpointing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685800" y="457200"/>
            <a:ext cx="132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Monte Carlo Dropout</a:t>
            </a:r>
            <a:endParaRPr/>
          </a:p>
        </p:txBody>
      </p:sp>
      <p:sp>
        <p:nvSpPr>
          <p:cNvPr id="104" name="Google Shape;104;p20"/>
          <p:cNvSpPr txBox="1"/>
          <p:nvPr/>
        </p:nvSpPr>
        <p:spPr>
          <a:xfrm>
            <a:off x="685800" y="1600200"/>
            <a:ext cx="132588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Uncertainty Quantification Method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Concept: Treat dropout as approximate Bayesian inference (Gal &amp; Ghahramani, 2016)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It Works: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Training: Dropout layers randomly deactivate neurons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Inference: Keep dropout active, perform 20 forward passes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Aggregation: Collect predictions from all passes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 prediction → Final classification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deviation → Uncertainty/confidence measure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Clinical Value: High uncertainty identifies cases needing pathologist review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685800" y="457200"/>
            <a:ext cx="132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Baseline Model Performance</a:t>
            </a:r>
            <a:endParaRPr/>
          </a:p>
        </p:txBody>
      </p:sp>
      <p:sp>
        <p:nvSpPr>
          <p:cNvPr id="110" name="Google Shape;110;p21"/>
          <p:cNvSpPr txBox="1"/>
          <p:nvPr/>
        </p:nvSpPr>
        <p:spPr>
          <a:xfrm>
            <a:off x="685800" y="1600200"/>
            <a:ext cx="132588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Overall Accuracy: 64.62%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Class-Specific AUC (Area Under ROC Curve)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NC: 0.905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G3: 0.767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G4: 0.878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G5: 0.474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Observations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discrimination for NC and G4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G5 classification is challenging (rare patterns)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Macro-Average AUC: 0.756</a:t>
            </a:r>
            <a:endParaRPr/>
          </a:p>
        </p:txBody>
      </p:sp>
      <p:pic>
        <p:nvPicPr>
          <p:cNvPr id="111" name="Google Shape;111;p21" title="roc_curves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8496" y="1991025"/>
            <a:ext cx="5866327" cy="501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685800" y="457200"/>
            <a:ext cx="132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Classification Patterns</a:t>
            </a:r>
            <a:endParaRPr/>
          </a:p>
        </p:txBody>
      </p:sp>
      <p:sp>
        <p:nvSpPr>
          <p:cNvPr id="117" name="Google Shape;117;p22"/>
          <p:cNvSpPr txBox="1"/>
          <p:nvPr/>
        </p:nvSpPr>
        <p:spPr>
          <a:xfrm>
            <a:off x="685800" y="1600200"/>
            <a:ext cx="132588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Confusion Matrix Insights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Strong Performance: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NC: 522/674 correct (77%)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G4: 567/902 correct (63%)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Challenges: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G5: 0/74 correct (0%) - Model never predicts G5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Misclassifications: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G4 → G5 (most frequent)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G3 → NC (adjacent grades)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Clinical Note: G4/G5 distinction difficult even for pathologists</a:t>
            </a:r>
            <a:endParaRPr/>
          </a:p>
        </p:txBody>
      </p:sp>
      <p:pic>
        <p:nvPicPr>
          <p:cNvPr id="118" name="Google Shape;118;p22" title="confusion_matrix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747" y="1124350"/>
            <a:ext cx="6950226" cy="582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685800" y="457200"/>
            <a:ext cx="132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Uncertainty Quantification Results</a:t>
            </a:r>
            <a:endParaRPr/>
          </a:p>
        </p:txBody>
      </p:sp>
      <p:sp>
        <p:nvSpPr>
          <p:cNvPr id="124" name="Google Shape;124;p23"/>
          <p:cNvSpPr txBox="1"/>
          <p:nvPr/>
        </p:nvSpPr>
        <p:spPr>
          <a:xfrm>
            <a:off x="685800" y="1600200"/>
            <a:ext cx="132588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 Dropout Accuracy: 38.9% (30 samples per prediction)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Prediction Entropy Analysis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entropy = High confidence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error count at low entropy levels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need for additional training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Average Uncertainty by Class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standard deviation across all grades (~0.045-0.056)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G4 shows highest uncertainty (0.056)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Correlates with largest training set</a:t>
            </a:r>
            <a:endParaRPr/>
          </a:p>
        </p:txBody>
      </p:sp>
      <p:pic>
        <p:nvPicPr>
          <p:cNvPr id="125" name="Google Shape;125;p23" title="uncertainty_analys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1125" y="2446950"/>
            <a:ext cx="6292623" cy="501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685800" y="457200"/>
            <a:ext cx="132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Model Calibration</a:t>
            </a:r>
            <a:endParaRPr/>
          </a:p>
        </p:txBody>
      </p:sp>
      <p:sp>
        <p:nvSpPr>
          <p:cNvPr id="131" name="Google Shape;131;p24"/>
          <p:cNvSpPr txBox="1"/>
          <p:nvPr/>
        </p:nvSpPr>
        <p:spPr>
          <a:xfrm>
            <a:off x="685800" y="1600200"/>
            <a:ext cx="132588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Explored multiple calibration methods to improve prediction reliability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Tested: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 Scaling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Histogram Binning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Isotonic Regression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Weighted Ensemble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Best Results (Isotonic Regression):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Brier Score: 0.443 (lower is better)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ECE: 0.035 (lower is better)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Macro-Average AUC: 0.756 → 0.848</a:t>
            </a:r>
            <a:endParaRPr/>
          </a:p>
        </p:txBody>
      </p:sp>
      <p:pic>
        <p:nvPicPr>
          <p:cNvPr id="132" name="Google Shape;132;p24" title="calibration_metric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5450" y="2709375"/>
            <a:ext cx="7501323" cy="445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/>
        </p:nvSpPr>
        <p:spPr>
          <a:xfrm>
            <a:off x="685800" y="457200"/>
            <a:ext cx="132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685800" y="1600200"/>
            <a:ext cx="132588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ResNet18 achieves reasonable baseline performance (64.62% accuracy)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excels at NC and G4 identification (AUC &gt; 0.87)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Struggles with rare G5 patterns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Monte Carlo Dropout successfully quantifies uncertainty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identification of ambiguous cases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Calibration methods significantly improve reliability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Isotonic Regression best for minimizing ECE and Brier score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Uncertainty correlates with model struggles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Highest for G4 (largest class with most confusion)</a:t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8325" y="2698400"/>
            <a:ext cx="5914351" cy="291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/>
        </p:nvSpPr>
        <p:spPr>
          <a:xfrm>
            <a:off x="685800" y="457200"/>
            <a:ext cx="132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Future Work &amp; Improvements</a:t>
            </a:r>
            <a:endParaRPr/>
          </a:p>
        </p:txBody>
      </p:sp>
      <p:sp>
        <p:nvSpPr>
          <p:cNvPr id="145" name="Google Shape;145;p26"/>
          <p:cNvSpPr txBox="1"/>
          <p:nvPr/>
        </p:nvSpPr>
        <p:spPr>
          <a:xfrm>
            <a:off x="685800" y="1600200"/>
            <a:ext cx="132588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Model Improvements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Deeper architectures (ResNet50, EfficientNet)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class imbalance with weighted loss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Expanded hardware resources for training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Calibration Methods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eep ensembles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Clinical Deployment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with practicing pathologists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 impact on workflow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/>
        </p:nvSpPr>
        <p:spPr>
          <a:xfrm>
            <a:off x="685800" y="457200"/>
            <a:ext cx="132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51" name="Google Shape;151;p27"/>
          <p:cNvSpPr txBox="1"/>
          <p:nvPr/>
        </p:nvSpPr>
        <p:spPr>
          <a:xfrm>
            <a:off x="685800" y="1600200"/>
            <a:ext cx="13258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>
                <a:solidFill>
                  <a:schemeClr val="dk1"/>
                </a:solidFill>
              </a:rPr>
              <a:t>Developed </a:t>
            </a:r>
            <a:r>
              <a:rPr lang="en-US">
                <a:solidFill>
                  <a:schemeClr val="dk1"/>
                </a:solidFill>
              </a:rPr>
              <a:t>uncertainty-aware deep learning system for Gleason grade classification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>
                <a:solidFill>
                  <a:schemeClr val="dk1"/>
                </a:solidFill>
              </a:rPr>
              <a:t>Baseline ResNet18 model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>
                <a:solidFill>
                  <a:schemeClr val="dk1"/>
                </a:solidFill>
              </a:rPr>
              <a:t>Monte Carlo (MC) dropout for uncertainty quantification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>
                <a:solidFill>
                  <a:schemeClr val="dk1"/>
                </a:solidFill>
              </a:rPr>
              <a:t>Model calibration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>
                <a:solidFill>
                  <a:schemeClr val="dk1"/>
                </a:solidFill>
              </a:rPr>
              <a:t>Works towards making deep learning usage in clinical settings more trustworthy and useful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4125" y="3237100"/>
            <a:ext cx="7213275" cy="480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/>
        </p:nvSpPr>
        <p:spPr>
          <a:xfrm>
            <a:off x="685800" y="457200"/>
            <a:ext cx="1325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Acknowledgments</a:t>
            </a:r>
            <a:endParaRPr/>
          </a:p>
        </p:txBody>
      </p:sp>
      <p:sp>
        <p:nvSpPr>
          <p:cNvPr id="158" name="Google Shape;158;p28"/>
          <p:cNvSpPr txBox="1"/>
          <p:nvPr/>
        </p:nvSpPr>
        <p:spPr>
          <a:xfrm>
            <a:off x="685800" y="1600200"/>
            <a:ext cx="132588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Silva-Rodríguez et al. for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providing the usage of the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SICAPv2 dataset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Tools &amp; Resources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Colab for GPU computing resources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TensorFlow, Keras, scikit-learn, matplotlib developers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Sadeghian and TAs for teaching and guidance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